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79" r:id="rId7"/>
    <p:sldId id="281" r:id="rId8"/>
    <p:sldId id="280" r:id="rId9"/>
    <p:sldId id="265" r:id="rId10"/>
    <p:sldId id="267" r:id="rId11"/>
    <p:sldId id="269" r:id="rId12"/>
  </p:sldIdLst>
  <p:sldSz cx="12192000" cy="6858000"/>
  <p:notesSz cx="7315200" cy="96012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E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-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f84bd36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2df84bd36ed_0_0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52" name="Google Shape;152;g2df84bd36ed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f84bd36e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2df84bd36ed_0_7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62" name="Google Shape;162;g2df84bd36ed_0_7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f84bd36e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2df84bd36ed_0_14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71" name="Google Shape;171;g2df84bd36ed_0_14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90bb0f40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190bb0f409_0_16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80" name="Google Shape;180;g3190bb0f409_0_16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32826aeb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2e32826aebc_0_4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206" name="Google Shape;206;g2e32826aebc_0_4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aa4618a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6aa4618a4_0_20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223" name="Google Shape;223;g3f6aa4618a4_0_2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635"/>
          </a:xfrm>
          <a:prstGeom prst="rect">
            <a:avLst/>
          </a:prstGeom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aa4618a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6aa4618a4_0_37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239" name="Google Shape;239;g3f6aa4618a4_0_37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635"/>
          </a:xfrm>
          <a:prstGeom prst="rect">
            <a:avLst/>
          </a:prstGeom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731520" y="4620578"/>
            <a:ext cx="5852160" cy="37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 panose="020B0502020202020204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 panose="020B0502020202020204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 panose="020B050202020202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 panose="020B0502020202020204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marL="1371600" lvl="2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marL="1828800" lvl="3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marL="2286000" lvl="4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marL="2743200" lvl="5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marL="3200400" lvl="6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marL="3657600" lvl="7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marL="4114800" lvl="8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 panose="020B0502020202020204"/>
              <a:buNone/>
              <a:defRPr sz="36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 panose="020B0502020202020204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26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 panose="020B0502020202020204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1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86D1D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2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  <p:sp>
        <p:nvSpPr>
          <p:cNvPr id="89" name="Google Shape;89;p27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 panose="020B0604020202020204"/>
              <a:buNone/>
            </a:pPr>
            <a:r>
              <a:rPr lang="en-US" sz="12200" b="0" i="0" u="none" strike="noStrike" cap="none" dirty="0">
                <a:solidFill>
                  <a:srgbClr val="86D1D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27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 panose="020B0604020202020204"/>
              <a:buNone/>
            </a:pPr>
            <a:r>
              <a:rPr lang="en-US" sz="12200" b="0" i="0" u="none" strike="noStrike" cap="none" dirty="0">
                <a:solidFill>
                  <a:srgbClr val="86D1D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 panose="020B0502020202020204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28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6" name="Google Shape;96;p2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 Column">
  <p:cSld name="3 Colum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 panose="020B0502020202020204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body" idx="2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body" idx="3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4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body" idx="5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6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105" name="Google Shape;105;p29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29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29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8" name="Google Shape;108;p29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9" name="Google Shape;109;p2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 Picture Column">
  <p:cSld name="3 Picture Colum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 panose="020B0502020202020204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30"/>
          <p:cNvSpPr>
            <a:spLocks noGrp="1"/>
          </p:cNvSpPr>
          <p:nvPr>
            <p:ph type="pic" idx="2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4" name="Google Shape;114;p30"/>
          <p:cNvSpPr txBox="1">
            <a:spLocks noGrp="1"/>
          </p:cNvSpPr>
          <p:nvPr>
            <p:ph type="body" idx="3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4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30"/>
          <p:cNvSpPr>
            <a:spLocks noGrp="1"/>
          </p:cNvSpPr>
          <p:nvPr>
            <p:ph type="pic" idx="5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7" name="Google Shape;117;p30"/>
          <p:cNvSpPr txBox="1">
            <a:spLocks noGrp="1"/>
          </p:cNvSpPr>
          <p:nvPr>
            <p:ph type="body" idx="6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body" idx="7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9" name="Google Shape;119;p30"/>
          <p:cNvSpPr>
            <a:spLocks noGrp="1"/>
          </p:cNvSpPr>
          <p:nvPr>
            <p:ph type="pic" idx="8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20" name="Google Shape;120;p30"/>
          <p:cNvSpPr txBox="1">
            <a:spLocks noGrp="1"/>
          </p:cNvSpPr>
          <p:nvPr>
            <p:ph type="body" idx="9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121" name="Google Shape;121;p30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30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30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4" name="Google Shape;124;p30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5" name="Google Shape;125;p3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1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3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body" idx="1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6" name="Google Shape;136;p32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7" name="Google Shape;137;p3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16"/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5"/>
          <p:cNvPicPr preferRelativeResize="0"/>
          <p:nvPr/>
        </p:nvPicPr>
        <p:blipFill rotWithShape="1">
          <a:blip r:embed="rId17"/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3922"/>
                </a:srgbClr>
              </a:gs>
              <a:gs pos="36000">
                <a:srgbClr val="4CB9C3">
                  <a:alpha val="3137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" name="Google Shape;13;p15"/>
          <p:cNvPicPr preferRelativeResize="0"/>
          <p:nvPr/>
        </p:nvPicPr>
        <p:blipFill rotWithShape="1">
          <a:blip r:embed="rId18"/>
          <a:srcRect t="28812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5"/>
          <p:cNvPicPr preferRelativeResize="0"/>
          <p:nvPr/>
        </p:nvPicPr>
        <p:blipFill rotWithShape="1">
          <a:blip r:embed="rId19"/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 panose="020B0502020202020204"/>
              <a:buNone/>
              <a:defRPr sz="4200" b="0" i="0" u="none" strike="noStrike" cap="none">
                <a:solidFill>
                  <a:schemeClr val="lt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sz="20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1828800" marR="0" lvl="3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2286000" marR="0" lvl="4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2743200" marR="0" lvl="5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3200400" marR="0" lvl="6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3657600" marR="0" lvl="7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4114800" marR="0" lvl="8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endParaRPr dirty="0"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endParaRPr dirty="0"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>
            <a:spLocks noGrp="1"/>
          </p:cNvSpPr>
          <p:nvPr>
            <p:ph type="ctrTitle"/>
          </p:nvPr>
        </p:nvSpPr>
        <p:spPr>
          <a:xfrm>
            <a:off x="1547081" y="788291"/>
            <a:ext cx="9144000" cy="7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K. RAMAKRISHNAN COLLEGE OF TECHNOLOGY</a:t>
            </a:r>
            <a:br>
              <a:rPr lang="en-US" sz="2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(AUTONOMOUS), TIRUCHIRAPALLI</a:t>
            </a:r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 txBox="1"/>
          <p:nvPr/>
        </p:nvSpPr>
        <p:spPr>
          <a:xfrm>
            <a:off x="1335761" y="2209800"/>
            <a:ext cx="98397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sz="2700" b="1" dirty="0">
                <a:solidFill>
                  <a:srgbClr val="000000"/>
                </a:solidFill>
                <a:latin typeface="Times New Roman" panose="02020603050405020304"/>
              </a:rPr>
              <a:t>SkyShield</a:t>
            </a:r>
            <a:r>
              <a:rPr sz="2700" b="1" dirty="0">
                <a:solidFill>
                  <a:srgbClr val="000000"/>
                </a:solidFill>
                <a:latin typeface="Times New Roman" panose="02020603050405020304"/>
              </a:rPr>
              <a:t>: Real-Time Predictive Canopy Collision Avoidance &amp; Audio Resolution Advisory System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6" name="Google Shape;146;p1"/>
          <p:cNvSpPr txBox="1"/>
          <p:nvPr/>
        </p:nvSpPr>
        <p:spPr>
          <a:xfrm>
            <a:off x="219075" y="6453188"/>
            <a:ext cx="9906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sz="1600" dirty="0">
                <a:solidFill>
                  <a:srgbClr val="000000"/>
                </a:solidFill>
                <a:latin typeface="Times New Roman" panose="02020603050405020304"/>
              </a:rPr>
              <a:t>17/08/2026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10957961" y="6426683"/>
            <a:ext cx="217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1209675" y="3429000"/>
            <a:ext cx="9941839" cy="36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000"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PRESENTED BY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                                                    GUIDED BY,</a:t>
            </a:r>
            <a:endParaRPr lang="en-US" sz="2000" b="1" dirty="0" smtClean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lnSpc>
                <a:spcPct val="115000"/>
              </a:lnSpc>
              <a:buSzPts val="2000"/>
            </a:pPr>
            <a:endParaRPr lang="en-US" sz="2000" b="1" dirty="0" smtClean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15000"/>
              </a:lnSpc>
              <a:buSzPts val="2000"/>
            </a:pP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Keerthika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K                    	-     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2503811724322043              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Mrs.M.A.Reetha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jeyarani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M.E.,               </a:t>
            </a:r>
            <a:endParaRPr lang="en-US" sz="2000" b="1" dirty="0" smtClean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15000"/>
              </a:lnSpc>
              <a:buSzPts val="2000"/>
            </a:pP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Kiranyaa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                    	-     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2503811724322044               Assistant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proffesor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</a:t>
            </a:r>
            <a:endParaRPr lang="en-US" sz="2000" b="1" dirty="0" smtClean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15000"/>
              </a:lnSpc>
              <a:buSzPts val="2000"/>
            </a:pP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Mohamed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Dowfig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J        	-     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2503811724322056               AI&amp;DS</a:t>
            </a:r>
            <a:endParaRPr lang="en-US" sz="2000" b="1" dirty="0" smtClean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15000"/>
              </a:lnSpc>
              <a:buSzPts val="2000"/>
            </a:pP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Mohamed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Hisham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      	-      </a:t>
            </a: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2503811724322057           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15000"/>
              </a:lnSpc>
              <a:buSzPts val="2000"/>
            </a:pP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                                  </a:t>
            </a:r>
            <a:endParaRPr lang="en-US" sz="2000" b="1" dirty="0" smtClean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15000"/>
              </a:lnSpc>
              <a:buSzPts val="2000"/>
            </a:pPr>
            <a:endParaRPr lang="en-US" sz="20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15000"/>
              </a:lnSpc>
              <a:buSzPts val="2000"/>
            </a:pPr>
            <a:r>
              <a:rPr lang="en-US" sz="2000" b="1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                                             </a:t>
            </a:r>
          </a:p>
          <a:p>
            <a:pPr lvl="0" algn="ctr">
              <a:lnSpc>
                <a:spcPct val="115000"/>
              </a:lnSpc>
              <a:buSzPts val="2000"/>
            </a:pPr>
            <a:endParaRPr lang="en-US"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72169" y="1600200"/>
            <a:ext cx="75668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Machine Learning Techniques – AGI1242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f84bd36ed_0_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fld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5" name="Google Shape;155;g2df84bd36ed_0_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df84bd36ed_0_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2df84bd36ed_0_0"/>
          <p:cNvSpPr txBox="1"/>
          <p:nvPr/>
        </p:nvSpPr>
        <p:spPr>
          <a:xfrm>
            <a:off x="3276600" y="359048"/>
            <a:ext cx="4491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r>
              <a:rPr sz="2500" b="1" dirty="0">
                <a:solidFill>
                  <a:srgbClr val="000000"/>
                </a:solidFill>
                <a:latin typeface="Times New Roman" panose="02020603050405020304"/>
              </a:rPr>
              <a:t>OBJECTIVE</a:t>
            </a:r>
            <a:endParaRPr sz="21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2df84bd36ed_0_0"/>
          <p:cNvSpPr txBox="1"/>
          <p:nvPr/>
        </p:nvSpPr>
        <p:spPr>
          <a:xfrm>
            <a:off x="503500" y="1531200"/>
            <a:ext cx="11481300" cy="78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247650" lvl="0" indent="0" algn="just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7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25657" y="1417702"/>
            <a:ext cx="10591800" cy="4193456"/>
          </a:xfrm>
          <a:prstGeom prst="rect">
            <a:avLst/>
          </a:prstGeom>
        </p:spPr>
        <p:txBody>
          <a:bodyPr wrap="square" lIns="50800" tIns="25400" rIns="50800" bIns="25400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 real-time safety system for </a:t>
            </a: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skydivers.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mid-air collisions before they </a:t>
            </a: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happen.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landing-zone hazards caused by wind and </a:t>
            </a: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terrain.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GNSS, IMU and barometer sensors to track the </a:t>
            </a: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skydiver.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audio guidance for safe direction and </a:t>
            </a: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timing.</a:t>
            </a:r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</a:t>
            </a: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and update the skydiver’s flight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f84bd36ed_0_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fld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5" name="Google Shape;165;g2df84bd36ed_0_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df84bd36ed_0_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df84bd36ed_0_7"/>
          <p:cNvSpPr txBox="1"/>
          <p:nvPr/>
        </p:nvSpPr>
        <p:spPr>
          <a:xfrm>
            <a:off x="3276600" y="457255"/>
            <a:ext cx="551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sz="2500" b="1" dirty="0">
                <a:solidFill>
                  <a:srgbClr val="000000"/>
                </a:solidFill>
                <a:latin typeface="Times New Roman" panose="02020603050405020304"/>
              </a:rPr>
              <a:t>PROBLEM IDENTIFICATION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6800" y="1513973"/>
            <a:ext cx="10515600" cy="4360168"/>
          </a:xfrm>
          <a:prstGeom prst="rect">
            <a:avLst/>
          </a:prstGeom>
        </p:spPr>
        <p:txBody>
          <a:bodyPr wrap="square" lIns="50800" tIns="25400" rIns="50800" bIns="2540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Skydiving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involves a risk of mid-air canopy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collisions.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Off-target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landings can occur due to changing wind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Crowded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airspace makes it difficult to identify nearby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parachutists.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visibility makes it difficult for skydivers to react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quickly.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mainly provide basic proximity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warnings.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predict future flight paths or provide specific corrective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need for an autonomous, forward-predicting safety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f84bd36ed_0_14"/>
          <p:cNvSpPr txBox="1"/>
          <p:nvPr/>
        </p:nvSpPr>
        <p:spPr>
          <a:xfrm>
            <a:off x="3740331" y="271785"/>
            <a:ext cx="45927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sz="2500" b="1" dirty="0">
                <a:solidFill>
                  <a:srgbClr val="000000"/>
                </a:solidFill>
                <a:latin typeface="Times New Roman" panose="02020603050405020304"/>
              </a:rPr>
              <a:t>FLOW DIAGRAM</a:t>
            </a:r>
            <a:endParaRPr sz="3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14116" y="1568196"/>
            <a:ext cx="5833872" cy="64008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3182112" y="1527048"/>
            <a:ext cx="5833872" cy="640080"/>
          </a:xfrm>
          <a:prstGeom prst="roundRect">
            <a:avLst/>
          </a:prstGeom>
          <a:solidFill>
            <a:srgbClr val="1F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3202940" y="1678305"/>
            <a:ext cx="1717675" cy="34861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SENSE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16184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8513063" y="159562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3390" y="1603375"/>
            <a:ext cx="5271135" cy="486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 GNSS, IMU and barometer data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Estimate position, velocity and heading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 nearby parachutists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6007608" y="2235708"/>
            <a:ext cx="182880" cy="146304"/>
          </a:xfrm>
          <a:prstGeom prst="downArrow">
            <a:avLst/>
          </a:prstGeom>
          <a:solidFill>
            <a:srgbClr val="16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ounded Rectangle 38"/>
          <p:cNvSpPr/>
          <p:nvPr/>
        </p:nvSpPr>
        <p:spPr>
          <a:xfrm>
            <a:off x="3214116" y="2391156"/>
            <a:ext cx="5833872" cy="64008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3182112" y="2350008"/>
            <a:ext cx="5833872" cy="640080"/>
          </a:xfrm>
          <a:prstGeom prst="roundRect">
            <a:avLst/>
          </a:prstGeom>
          <a:solidFill>
            <a:srgbClr val="1F6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3195320" y="2535238"/>
            <a:ext cx="1898015" cy="3448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BROADCAST</a:t>
            </a:r>
          </a:p>
        </p:txBody>
      </p:sp>
      <p:sp>
        <p:nvSpPr>
          <p:cNvPr id="42" name="Oval 41"/>
          <p:cNvSpPr/>
          <p:nvPr/>
        </p:nvSpPr>
        <p:spPr>
          <a:xfrm>
            <a:off x="8485632" y="244144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8513063" y="241858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4025" y="2467610"/>
            <a:ext cx="5270500" cy="486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•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Broadcast live GPS trajectory + jumper ID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Share position, velocity and heading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 low-latency peer updates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6007608" y="3058668"/>
            <a:ext cx="182880" cy="146304"/>
          </a:xfrm>
          <a:prstGeom prst="downArrow">
            <a:avLst/>
          </a:prstGeom>
          <a:solidFill>
            <a:srgbClr val="16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ounded Rectangle 45"/>
          <p:cNvSpPr/>
          <p:nvPr/>
        </p:nvSpPr>
        <p:spPr>
          <a:xfrm>
            <a:off x="3214116" y="3214116"/>
            <a:ext cx="5833872" cy="64008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7" name="Rounded Rectangle 46"/>
          <p:cNvSpPr/>
          <p:nvPr/>
        </p:nvSpPr>
        <p:spPr>
          <a:xfrm>
            <a:off x="3182112" y="3172968"/>
            <a:ext cx="5833872" cy="640080"/>
          </a:xfrm>
          <a:prstGeom prst="roundRect">
            <a:avLst/>
          </a:prstGeom>
          <a:solidFill>
            <a:srgbClr val="334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3208383" y="3339730"/>
            <a:ext cx="4965192" cy="3448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PREDICT</a:t>
            </a:r>
          </a:p>
        </p:txBody>
      </p:sp>
      <p:sp>
        <p:nvSpPr>
          <p:cNvPr id="49" name="Oval 48"/>
          <p:cNvSpPr/>
          <p:nvPr/>
        </p:nvSpPr>
        <p:spPr>
          <a:xfrm>
            <a:off x="8485632" y="326440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8513063" y="324154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4025" y="3317240"/>
            <a:ext cx="5270500" cy="486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multiple trajectories in 4D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future paths in space + time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 conflict / intersection points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6007608" y="3881628"/>
            <a:ext cx="182880" cy="146304"/>
          </a:xfrm>
          <a:prstGeom prst="downArrow">
            <a:avLst/>
          </a:prstGeom>
          <a:solidFill>
            <a:srgbClr val="16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Rounded Rectangle 52"/>
          <p:cNvSpPr/>
          <p:nvPr/>
        </p:nvSpPr>
        <p:spPr>
          <a:xfrm>
            <a:off x="3214116" y="4037076"/>
            <a:ext cx="5833872" cy="64008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4" name="Rounded Rectangle 53"/>
          <p:cNvSpPr/>
          <p:nvPr/>
        </p:nvSpPr>
        <p:spPr>
          <a:xfrm>
            <a:off x="3182112" y="3995928"/>
            <a:ext cx="5833872" cy="640080"/>
          </a:xfrm>
          <a:prstGeom prst="roundRect">
            <a:avLst/>
          </a:prstGeom>
          <a:solidFill>
            <a:srgbClr val="6F3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3202974" y="4057713"/>
            <a:ext cx="4965192" cy="5988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sz="16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</a:t>
            </a:r>
            <a:endParaRPr lang="en-US" sz="1650" b="1" dirty="0" smtClean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6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</p:txBody>
      </p:sp>
      <p:sp>
        <p:nvSpPr>
          <p:cNvPr id="56" name="Oval 55"/>
          <p:cNvSpPr/>
          <p:nvPr/>
        </p:nvSpPr>
        <p:spPr>
          <a:xfrm>
            <a:off x="8485632" y="408736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8513063" y="406450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34025" y="4097020"/>
            <a:ext cx="5360670" cy="486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•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Estimate collision probability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Determine hazard severity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Calculate time-to-impact (TTI)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6007608" y="4704588"/>
            <a:ext cx="182880" cy="146304"/>
          </a:xfrm>
          <a:prstGeom prst="downArrow">
            <a:avLst/>
          </a:prstGeom>
          <a:solidFill>
            <a:srgbClr val="16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0" name="Rounded Rectangle 59"/>
          <p:cNvSpPr/>
          <p:nvPr/>
        </p:nvSpPr>
        <p:spPr>
          <a:xfrm>
            <a:off x="3214116" y="4860035"/>
            <a:ext cx="5833872" cy="64008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1" name="Rounded Rectangle 60"/>
          <p:cNvSpPr/>
          <p:nvPr/>
        </p:nvSpPr>
        <p:spPr>
          <a:xfrm>
            <a:off x="3182112" y="4818887"/>
            <a:ext cx="5833872" cy="640080"/>
          </a:xfrm>
          <a:prstGeom prst="roundRect">
            <a:avLst/>
          </a:prstGeom>
          <a:solidFill>
            <a:srgbClr val="903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2" name="TextBox 61"/>
          <p:cNvSpPr txBox="1"/>
          <p:nvPr/>
        </p:nvSpPr>
        <p:spPr>
          <a:xfrm>
            <a:off x="3190095" y="4876111"/>
            <a:ext cx="4965192" cy="5988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SELECT </a:t>
            </a:r>
            <a:r>
              <a:rPr sz="16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FEASIBLE</a:t>
            </a:r>
            <a:endParaRPr lang="en-US" sz="1650" b="1" dirty="0" smtClean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65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MANEUVER</a:t>
            </a:r>
          </a:p>
        </p:txBody>
      </p:sp>
      <p:sp>
        <p:nvSpPr>
          <p:cNvPr id="63" name="Oval 62"/>
          <p:cNvSpPr/>
          <p:nvPr/>
        </p:nvSpPr>
        <p:spPr>
          <a:xfrm>
            <a:off x="8485632" y="4910327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4" name="TextBox 63"/>
          <p:cNvSpPr txBox="1"/>
          <p:nvPr/>
        </p:nvSpPr>
        <p:spPr>
          <a:xfrm>
            <a:off x="8513063" y="488746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95620" y="4918075"/>
            <a:ext cx="5360670" cy="486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•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/ heading / speed options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 safest feasible correction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Continuously re-plan as paths change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6007608" y="5527548"/>
            <a:ext cx="182880" cy="146304"/>
          </a:xfrm>
          <a:prstGeom prst="downArrow">
            <a:avLst/>
          </a:prstGeom>
          <a:solidFill>
            <a:srgbClr val="16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7" name="Rounded Rectangle 66"/>
          <p:cNvSpPr/>
          <p:nvPr/>
        </p:nvSpPr>
        <p:spPr>
          <a:xfrm>
            <a:off x="3214116" y="5682996"/>
            <a:ext cx="5833872" cy="64008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8" name="Rounded Rectangle 67"/>
          <p:cNvSpPr/>
          <p:nvPr/>
        </p:nvSpPr>
        <p:spPr>
          <a:xfrm>
            <a:off x="3182112" y="5641848"/>
            <a:ext cx="5833872" cy="640080"/>
          </a:xfrm>
          <a:prstGeom prst="roundRect">
            <a:avLst/>
          </a:prstGeom>
          <a:solidFill>
            <a:srgbClr val="DC6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9" name="TextBox 68"/>
          <p:cNvSpPr txBox="1"/>
          <p:nvPr/>
        </p:nvSpPr>
        <p:spPr>
          <a:xfrm>
            <a:off x="3177216" y="5763665"/>
            <a:ext cx="4965192" cy="3448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SPEAK ADVISORY</a:t>
            </a:r>
          </a:p>
        </p:txBody>
      </p:sp>
      <p:sp>
        <p:nvSpPr>
          <p:cNvPr id="70" name="Oval 69"/>
          <p:cNvSpPr/>
          <p:nvPr/>
        </p:nvSpPr>
        <p:spPr>
          <a:xfrm>
            <a:off x="8485632" y="57332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1" name="TextBox 70"/>
          <p:cNvSpPr txBox="1"/>
          <p:nvPr/>
        </p:nvSpPr>
        <p:spPr>
          <a:xfrm>
            <a:off x="8513063" y="571042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41975" y="5706745"/>
            <a:ext cx="5252720" cy="486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•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optimized audio prompt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Give specific corrective heading + timing</a:t>
            </a:r>
          </a:p>
          <a:p>
            <a:pPr>
              <a:lnSpc>
                <a:spcPct val="88000"/>
              </a:lnSpc>
              <a:spcAft>
                <a:spcPts val="0"/>
              </a:spcAft>
              <a:defRPr sz="1070">
                <a:solidFill>
                  <a:srgbClr val="FFFFFF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Hands-free instruction during descent</a:t>
            </a:r>
          </a:p>
        </p:txBody>
      </p:sp>
      <p:sp>
        <p:nvSpPr>
          <p:cNvPr id="73" name="Down Arrow 72"/>
          <p:cNvSpPr/>
          <p:nvPr/>
        </p:nvSpPr>
        <p:spPr>
          <a:xfrm>
            <a:off x="6007608" y="1344168"/>
            <a:ext cx="182880" cy="146304"/>
          </a:xfrm>
          <a:prstGeom prst="downArrow">
            <a:avLst/>
          </a:prstGeom>
          <a:solidFill>
            <a:srgbClr val="16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74" name="Connector 48"/>
          <p:cNvCxnSpPr/>
          <p:nvPr/>
        </p:nvCxnSpPr>
        <p:spPr>
          <a:xfrm>
            <a:off x="2331720" y="1847088"/>
            <a:ext cx="0" cy="4114800"/>
          </a:xfrm>
          <a:prstGeom prst="line">
            <a:avLst/>
          </a:prstGeom>
          <a:ln w="22860">
            <a:solidFill>
              <a:srgbClr val="16394C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49"/>
          <p:cNvCxnSpPr/>
          <p:nvPr/>
        </p:nvCxnSpPr>
        <p:spPr>
          <a:xfrm>
            <a:off x="2331720" y="1847088"/>
            <a:ext cx="813816" cy="0"/>
          </a:xfrm>
          <a:prstGeom prst="line">
            <a:avLst/>
          </a:prstGeom>
          <a:ln w="22860">
            <a:solidFill>
              <a:srgbClr val="16394C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ight Triangle 75"/>
          <p:cNvSpPr/>
          <p:nvPr/>
        </p:nvSpPr>
        <p:spPr>
          <a:xfrm rot="5400000">
            <a:off x="2999232" y="1764792"/>
            <a:ext cx="182880" cy="164592"/>
          </a:xfrm>
          <a:prstGeom prst="rtTriangle">
            <a:avLst/>
          </a:prstGeom>
          <a:solidFill>
            <a:srgbClr val="16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77" name="Connector 51"/>
          <p:cNvCxnSpPr>
            <a:endCxn id="68" idx="1"/>
          </p:cNvCxnSpPr>
          <p:nvPr/>
        </p:nvCxnSpPr>
        <p:spPr>
          <a:xfrm>
            <a:off x="2331720" y="5961888"/>
            <a:ext cx="850392" cy="0"/>
          </a:xfrm>
          <a:prstGeom prst="line">
            <a:avLst/>
          </a:prstGeom>
          <a:ln w="22860">
            <a:solidFill>
              <a:srgbClr val="16394C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ight Triangle 77"/>
          <p:cNvSpPr/>
          <p:nvPr/>
        </p:nvSpPr>
        <p:spPr>
          <a:xfrm rot="5400000">
            <a:off x="3019680" y="5879592"/>
            <a:ext cx="182880" cy="164592"/>
          </a:xfrm>
          <a:prstGeom prst="rtTriangle">
            <a:avLst/>
          </a:prstGeom>
          <a:solidFill>
            <a:srgbClr val="16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9" name="TextBox 78"/>
          <p:cNvSpPr txBox="1"/>
          <p:nvPr/>
        </p:nvSpPr>
        <p:spPr>
          <a:xfrm rot="16200000">
            <a:off x="596265" y="3907473"/>
            <a:ext cx="2712085" cy="2832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THE NEXT STATE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7251192"/>
            <a:ext cx="12191695" cy="292608"/>
          </a:xfrm>
          <a:prstGeom prst="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1" name="TextBox 80"/>
          <p:cNvSpPr txBox="1"/>
          <p:nvPr/>
        </p:nvSpPr>
        <p:spPr>
          <a:xfrm>
            <a:off x="365760" y="7260336"/>
            <a:ext cx="114574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dirty="0">
                <a:solidFill>
                  <a:srgbClr val="282828"/>
                </a:solidFill>
                <a:latin typeface="Aptos"/>
              </a:rPr>
              <a:t>Sky Shield  |  Real-Time Collision Avoidance for Parachutists</a:t>
            </a:r>
          </a:p>
        </p:txBody>
      </p:sp>
      <p:pic>
        <p:nvPicPr>
          <p:cNvPr id="82" name="Google Shape;174;g2df84bd36ed_0_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175;g2df84bd36ed_0_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90bb0f409_0_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fld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83" name="Google Shape;183;g3190bb0f409_0_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190bb0f409_0_1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190bb0f409_0_16"/>
          <p:cNvSpPr txBox="1"/>
          <p:nvPr/>
        </p:nvSpPr>
        <p:spPr>
          <a:xfrm>
            <a:off x="3534228" y="427599"/>
            <a:ext cx="4712725" cy="6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sz="2500" b="1" dirty="0">
                <a:solidFill>
                  <a:srgbClr val="000000"/>
                </a:solidFill>
                <a:latin typeface="Times New Roman" panose="02020603050405020304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771140" y="2612390"/>
            <a:ext cx="6974840" cy="1128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https://docs.google.com/spreadsheets/d/1RHBOUW_6E_RcbSGKIxBn34klTQmGlQC2/edit?gid=2055147146#gid=2055147146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32826aebc_0_4"/>
          <p:cNvSpPr txBox="1"/>
          <p:nvPr/>
        </p:nvSpPr>
        <p:spPr>
          <a:xfrm>
            <a:off x="2769825" y="257630"/>
            <a:ext cx="6576150" cy="1082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Bef>
                <a:spcPts val="1000"/>
              </a:spcBef>
            </a:pPr>
            <a:r>
              <a:rPr lang="en-US" sz="2500" b="1" dirty="0">
                <a:latin typeface="Times New Roman" panose="02020603050405020304"/>
              </a:rPr>
              <a:t>RESEARCH METHODOLOGY (ALGORITHM EXPLANATION)</a:t>
            </a:r>
            <a:endParaRPr lang="en-US" sz="25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09" name="Google Shape;209;g2e32826aebc_0_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2e32826aebc_0_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1447800" y="2423160"/>
            <a:ext cx="4648200" cy="4724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1260007" y="1447800"/>
            <a:ext cx="9144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Trajectory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Filter / Linear Extrapolation)* — forecasts each jumper's future position from current GPS + velocity + turn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Closest Point of Approach (CPA) Algorithm* — computes minimum distance and time-to-collision between two predicted flight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3.Risk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Scoring Model* — classifies collision/landing risk (low/medium/high) based on CPA distance, closing speed, and time-to-impact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thresholds</a:t>
            </a: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 &amp; Terrain Hazard Model* — combines live wind data with canopy glide ratio to predict landing point, cross-checked against a hazard map (water, power lines, obstacles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Corrective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 Generator* — converts risk output into a discrete heading/timing correction, delivered as an audio cue</a:t>
            </a:r>
          </a:p>
          <a:p>
            <a:pPr marL="342900" indent="-342900">
              <a:buAutoNum type="arabicPeriod"/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aa4618a4_0_20"/>
          <p:cNvSpPr txBox="1">
            <a:spLocks noGrp="1"/>
          </p:cNvSpPr>
          <p:nvPr>
            <p:ph type="body" idx="1"/>
          </p:nvPr>
        </p:nvSpPr>
        <p:spPr>
          <a:xfrm>
            <a:off x="2743200" y="386136"/>
            <a:ext cx="6705600" cy="76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sz="2500" b="1" dirty="0">
                <a:solidFill>
                  <a:srgbClr val="000000"/>
                </a:solidFill>
                <a:latin typeface="Times New Roman" panose="02020603050405020304"/>
              </a:rPr>
              <a:t>COMPARE ALGORITHMS</a:t>
            </a:r>
            <a:endParaRPr sz="25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26" name="Google Shape;226;g3f6aa4618a4_0_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f6aa4618a4_0_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0" name="Comparison Table"/>
          <p:cNvGraphicFramePr>
            <a:graphicFrameLocks noGrp="1"/>
          </p:cNvGraphicFramePr>
          <p:nvPr/>
        </p:nvGraphicFramePr>
        <p:xfrm>
          <a:off x="471000" y="1450000"/>
          <a:ext cx="11250000" cy="3800000"/>
        </p:xfrm>
        <a:graphic>
          <a:graphicData uri="http://schemas.openxmlformats.org/drawingml/2006/table">
            <a:tbl>
              <a:tblPr firstRow="1"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639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Purpose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639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639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639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639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63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Kalman Filter / Linear Extrapolation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 each jumper's future position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GPS, velocity, turn rate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 future trajectory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Smooths sensor noise; light enough for edge use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drops in sudden turns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Closest Point of Approach (CPA)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 minimum separation and time-to-collision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predicted flight paths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CPA distance, time-to-CPA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Simple, proven aviation concept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prediction accuracy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Scoring Model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Classify collision / landing risk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CPA distance, closing speed, TTI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/ Medium / High risk level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Clear, threshold-based decisions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Thresholds need tuning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 Drift &amp; Terrain Hazard Model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landing point and check hazards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wind, glide ratio, hazard map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Drift-adjusted landing point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Flags water, power lines, obstacles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live wind and map data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Corrective Instruction Generator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 risk output into an action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level, feasible maneuvers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Heading / timing audio cue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Specific, hands-free guidance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639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by canopy maneuver limits</a:t>
                      </a:r>
                    </a:p>
                  </a:txBody>
                  <a:tcPr marL="64008" marR="64008"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1" name="Shape 301"/>
          <p:cNvSpPr/>
          <p:nvPr/>
        </p:nvSpPr>
        <p:spPr>
          <a:xfrm>
            <a:off x="471000" y="5420000"/>
            <a:ext cx="11250000" cy="760000"/>
          </a:xfrm>
          <a:prstGeom prst="rect">
            <a:avLst/>
          </a:prstGeom>
          <a:solidFill>
            <a:srgbClr val="EBF1F4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DC6A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approach: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pipeline combining prediction, collision assessment, risk evaluation, hazard prediction and corrective advisory provides the most suitable solution for SkyShield.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aa4618a4_0_20"/>
          <p:cNvSpPr txBox="1">
            <a:spLocks noGrp="1"/>
          </p:cNvSpPr>
          <p:nvPr>
            <p:ph type="body" idx="1"/>
          </p:nvPr>
        </p:nvSpPr>
        <p:spPr>
          <a:xfrm>
            <a:off x="2743200" y="386136"/>
            <a:ext cx="6705600" cy="76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sz="2500" b="1" dirty="0">
                <a:solidFill>
                  <a:srgbClr val="000000"/>
                </a:solidFill>
                <a:latin typeface="Times New Roman" panose="02020603050405020304"/>
              </a:rPr>
              <a:t>IMPLEMENTATION IDEA</a:t>
            </a:r>
            <a:endParaRPr sz="25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26" name="Google Shape;226;g3f6aa4618a4_0_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f6aa4618a4_0_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Shape 302"/>
          <p:cNvSpPr/>
          <p:nvPr/>
        </p:nvSpPr>
        <p:spPr>
          <a:xfrm>
            <a:off x="471000" y="1450000"/>
            <a:ext cx="1100000" cy="560000"/>
          </a:xfrm>
          <a:prstGeom prst="roundRect">
            <a:avLst/>
          </a:prstGeom>
          <a:solidFill>
            <a:srgbClr val="1F8489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</a:p>
        </p:txBody>
      </p:sp>
      <p:sp>
        <p:nvSpPr>
          <p:cNvPr id="303" name="Shape 303"/>
          <p:cNvSpPr/>
          <p:nvPr/>
        </p:nvSpPr>
        <p:spPr>
          <a:xfrm>
            <a:off x="1571000" y="1450000"/>
            <a:ext cx="16875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04" name="Shape 304"/>
          <p:cNvSpPr/>
          <p:nvPr/>
        </p:nvSpPr>
        <p:spPr>
          <a:xfrm>
            <a:off x="1739750" y="1450000"/>
            <a:ext cx="1100000" cy="560000"/>
          </a:xfrm>
          <a:prstGeom prst="roundRect">
            <a:avLst/>
          </a:prstGeom>
          <a:solidFill>
            <a:srgbClr val="1F8489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305" name="Shape 305"/>
          <p:cNvSpPr/>
          <p:nvPr/>
        </p:nvSpPr>
        <p:spPr>
          <a:xfrm>
            <a:off x="2839750" y="1450000"/>
            <a:ext cx="16875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06" name="Shape 306"/>
          <p:cNvSpPr/>
          <p:nvPr/>
        </p:nvSpPr>
        <p:spPr>
          <a:xfrm>
            <a:off x="3008500" y="1450000"/>
            <a:ext cx="1100000" cy="560000"/>
          </a:xfrm>
          <a:prstGeom prst="roundRect">
            <a:avLst/>
          </a:prstGeom>
          <a:solidFill>
            <a:srgbClr val="1F6C97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Broadcast</a:t>
            </a:r>
          </a:p>
        </p:txBody>
      </p:sp>
      <p:sp>
        <p:nvSpPr>
          <p:cNvPr id="307" name="Shape 307"/>
          <p:cNvSpPr/>
          <p:nvPr/>
        </p:nvSpPr>
        <p:spPr>
          <a:xfrm>
            <a:off x="4108500" y="1450000"/>
            <a:ext cx="16875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08" name="Shape 308"/>
          <p:cNvSpPr/>
          <p:nvPr/>
        </p:nvSpPr>
        <p:spPr>
          <a:xfrm>
            <a:off x="4277250" y="1450000"/>
            <a:ext cx="1100000" cy="560000"/>
          </a:xfrm>
          <a:prstGeom prst="roundRect">
            <a:avLst/>
          </a:prstGeom>
          <a:solidFill>
            <a:srgbClr val="33427F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Estimation</a:t>
            </a:r>
          </a:p>
        </p:txBody>
      </p:sp>
      <p:sp>
        <p:nvSpPr>
          <p:cNvPr id="309" name="Shape 309"/>
          <p:cNvSpPr/>
          <p:nvPr/>
        </p:nvSpPr>
        <p:spPr>
          <a:xfrm>
            <a:off x="5377250" y="1450000"/>
            <a:ext cx="16875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10" name="Shape 310"/>
          <p:cNvSpPr/>
          <p:nvPr/>
        </p:nvSpPr>
        <p:spPr>
          <a:xfrm>
            <a:off x="5546000" y="1450000"/>
            <a:ext cx="1100000" cy="560000"/>
          </a:xfrm>
          <a:prstGeom prst="roundRect">
            <a:avLst/>
          </a:prstGeom>
          <a:solidFill>
            <a:srgbClr val="33427F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Trajectory Prediction</a:t>
            </a:r>
          </a:p>
        </p:txBody>
      </p:sp>
      <p:sp>
        <p:nvSpPr>
          <p:cNvPr id="311" name="Shape 311"/>
          <p:cNvSpPr/>
          <p:nvPr/>
        </p:nvSpPr>
        <p:spPr>
          <a:xfrm>
            <a:off x="6646000" y="1450000"/>
            <a:ext cx="16875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12" name="Shape 312"/>
          <p:cNvSpPr/>
          <p:nvPr/>
        </p:nvSpPr>
        <p:spPr>
          <a:xfrm>
            <a:off x="6814750" y="1450000"/>
            <a:ext cx="1100000" cy="560000"/>
          </a:xfrm>
          <a:prstGeom prst="roundRect">
            <a:avLst/>
          </a:prstGeom>
          <a:solidFill>
            <a:srgbClr val="6F3F7C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CPA &amp; Risk Analysis</a:t>
            </a:r>
          </a:p>
        </p:txBody>
      </p:sp>
      <p:sp>
        <p:nvSpPr>
          <p:cNvPr id="313" name="Shape 313"/>
          <p:cNvSpPr/>
          <p:nvPr/>
        </p:nvSpPr>
        <p:spPr>
          <a:xfrm>
            <a:off x="7914750" y="1450000"/>
            <a:ext cx="16875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14" name="Shape 314"/>
          <p:cNvSpPr/>
          <p:nvPr/>
        </p:nvSpPr>
        <p:spPr>
          <a:xfrm>
            <a:off x="8083500" y="1450000"/>
            <a:ext cx="1100000" cy="560000"/>
          </a:xfrm>
          <a:prstGeom prst="roundRect">
            <a:avLst/>
          </a:prstGeom>
          <a:solidFill>
            <a:srgbClr val="90336C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Maneuver Selection</a:t>
            </a:r>
          </a:p>
        </p:txBody>
      </p:sp>
      <p:sp>
        <p:nvSpPr>
          <p:cNvPr id="315" name="Shape 315"/>
          <p:cNvSpPr/>
          <p:nvPr/>
        </p:nvSpPr>
        <p:spPr>
          <a:xfrm>
            <a:off x="9183500" y="1450000"/>
            <a:ext cx="16875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16" name="Shape 316"/>
          <p:cNvSpPr/>
          <p:nvPr/>
        </p:nvSpPr>
        <p:spPr>
          <a:xfrm>
            <a:off x="9352250" y="1450000"/>
            <a:ext cx="1100000" cy="560000"/>
          </a:xfrm>
          <a:prstGeom prst="roundRect">
            <a:avLst/>
          </a:prstGeom>
          <a:solidFill>
            <a:srgbClr val="90336C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Advisory</a:t>
            </a:r>
          </a:p>
        </p:txBody>
      </p:sp>
      <p:sp>
        <p:nvSpPr>
          <p:cNvPr id="317" name="Shape 317"/>
          <p:cNvSpPr/>
          <p:nvPr/>
        </p:nvSpPr>
        <p:spPr>
          <a:xfrm>
            <a:off x="10452250" y="1450000"/>
            <a:ext cx="16875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18" name="Shape 318"/>
          <p:cNvSpPr/>
          <p:nvPr/>
        </p:nvSpPr>
        <p:spPr>
          <a:xfrm>
            <a:off x="10621000" y="1450000"/>
            <a:ext cx="1100000" cy="560000"/>
          </a:xfrm>
          <a:prstGeom prst="roundRect">
            <a:avLst/>
          </a:prstGeom>
          <a:solidFill>
            <a:srgbClr val="DC6A14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Monitoring</a:t>
            </a:r>
          </a:p>
        </p:txBody>
      </p:sp>
      <p:sp>
        <p:nvSpPr>
          <p:cNvPr id="319" name="Shape 319"/>
          <p:cNvSpPr/>
          <p:nvPr/>
        </p:nvSpPr>
        <p:spPr>
          <a:xfrm>
            <a:off x="471000" y="2200000"/>
            <a:ext cx="3300000" cy="640000"/>
          </a:xfrm>
          <a:prstGeom prst="roundRect">
            <a:avLst/>
          </a:prstGeom>
          <a:solidFill>
            <a:srgbClr val="1F8489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Sensor &amp; Telemetry Layer</a:t>
            </a:r>
          </a:p>
        </p:txBody>
      </p:sp>
      <p:sp>
        <p:nvSpPr>
          <p:cNvPr id="320" name="Shape 320"/>
          <p:cNvSpPr/>
          <p:nvPr/>
        </p:nvSpPr>
        <p:spPr>
          <a:xfrm>
            <a:off x="3861000" y="2200000"/>
            <a:ext cx="7860000" cy="64000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200" b="1" dirty="0">
                <a:solidFill>
                  <a:srgbClr val="1639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GNSS  •  IMU  •  Barometer  •  Position, altitude, velocity and heading</a:t>
            </a:r>
          </a:p>
        </p:txBody>
      </p:sp>
      <p:sp>
        <p:nvSpPr>
          <p:cNvPr id="321" name="Shape 321"/>
          <p:cNvSpPr/>
          <p:nvPr/>
        </p:nvSpPr>
        <p:spPr>
          <a:xfrm>
            <a:off x="471000" y="2925000"/>
            <a:ext cx="3300000" cy="640000"/>
          </a:xfrm>
          <a:prstGeom prst="roundRect">
            <a:avLst/>
          </a:prstGeom>
          <a:solidFill>
            <a:srgbClr val="1F6C97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Communication Layer</a:t>
            </a:r>
          </a:p>
        </p:txBody>
      </p:sp>
      <p:sp>
        <p:nvSpPr>
          <p:cNvPr id="322" name="Shape 322"/>
          <p:cNvSpPr/>
          <p:nvPr/>
        </p:nvSpPr>
        <p:spPr>
          <a:xfrm>
            <a:off x="3861000" y="2925000"/>
            <a:ext cx="7860000" cy="64000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200" b="1" dirty="0">
                <a:solidFill>
                  <a:srgbClr val="1639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jumper state  •  Receive nearby jumper telemetry  •  Low-latency peer updates</a:t>
            </a:r>
          </a:p>
        </p:txBody>
      </p:sp>
      <p:sp>
        <p:nvSpPr>
          <p:cNvPr id="323" name="Shape 323"/>
          <p:cNvSpPr/>
          <p:nvPr/>
        </p:nvSpPr>
        <p:spPr>
          <a:xfrm>
            <a:off x="471000" y="3650000"/>
            <a:ext cx="3300000" cy="640000"/>
          </a:xfrm>
          <a:prstGeom prst="roundRect">
            <a:avLst/>
          </a:prstGeom>
          <a:solidFill>
            <a:srgbClr val="33427F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Prediction &amp; Collision Detection</a:t>
            </a:r>
          </a:p>
        </p:txBody>
      </p:sp>
      <p:sp>
        <p:nvSpPr>
          <p:cNvPr id="324" name="Shape 324"/>
          <p:cNvSpPr/>
          <p:nvPr/>
        </p:nvSpPr>
        <p:spPr>
          <a:xfrm>
            <a:off x="3861000" y="3650000"/>
            <a:ext cx="7860000" cy="64000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200" b="1" dirty="0">
                <a:solidFill>
                  <a:srgbClr val="1639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trajectories  •  Calculate CPA  •  Estimate time-to-impact  •  Detect potential conflicts</a:t>
            </a:r>
          </a:p>
        </p:txBody>
      </p:sp>
      <p:sp>
        <p:nvSpPr>
          <p:cNvPr id="325" name="Shape 325"/>
          <p:cNvSpPr/>
          <p:nvPr/>
        </p:nvSpPr>
        <p:spPr>
          <a:xfrm>
            <a:off x="471000" y="4375000"/>
            <a:ext cx="3300000" cy="640000"/>
          </a:xfrm>
          <a:prstGeom prst="roundRect">
            <a:avLst/>
          </a:prstGeom>
          <a:solidFill>
            <a:srgbClr val="6F3F7C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Risk &amp; Decision Layer</a:t>
            </a:r>
          </a:p>
        </p:txBody>
      </p:sp>
      <p:sp>
        <p:nvSpPr>
          <p:cNvPr id="326" name="Shape 326"/>
          <p:cNvSpPr/>
          <p:nvPr/>
        </p:nvSpPr>
        <p:spPr>
          <a:xfrm>
            <a:off x="3861000" y="4375000"/>
            <a:ext cx="7860000" cy="64000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200" b="1" dirty="0">
                <a:solidFill>
                  <a:srgbClr val="1639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collision risk  •  Consider wind and terrain hazards  •  Select feasible corrective maneuver</a:t>
            </a:r>
          </a:p>
        </p:txBody>
      </p:sp>
      <p:sp>
        <p:nvSpPr>
          <p:cNvPr id="327" name="Shape 327"/>
          <p:cNvSpPr/>
          <p:nvPr/>
        </p:nvSpPr>
        <p:spPr>
          <a:xfrm>
            <a:off x="471000" y="5100000"/>
            <a:ext cx="3300000" cy="640000"/>
          </a:xfrm>
          <a:prstGeom prst="roundRect">
            <a:avLst/>
          </a:prstGeom>
          <a:solidFill>
            <a:srgbClr val="90336C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Audio Advisory &amp; Monitoring</a:t>
            </a:r>
          </a:p>
        </p:txBody>
      </p:sp>
      <p:sp>
        <p:nvSpPr>
          <p:cNvPr id="328" name="Shape 328"/>
          <p:cNvSpPr/>
          <p:nvPr/>
        </p:nvSpPr>
        <p:spPr>
          <a:xfrm>
            <a:off x="3861000" y="5100000"/>
            <a:ext cx="7860000" cy="64000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/>
            <a:r>
              <a:rPr lang="en-US" sz="1200" b="1" dirty="0">
                <a:solidFill>
                  <a:srgbClr val="1639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Concise directional audio instructions  •  Timing / heading guidance  •  Log events  •  Monitor sensor and communication failures</a:t>
            </a:r>
          </a:p>
        </p:txBody>
      </p:sp>
      <p:sp>
        <p:nvSpPr>
          <p:cNvPr id="329" name="Shape 329"/>
          <p:cNvSpPr/>
          <p:nvPr/>
        </p:nvSpPr>
        <p:spPr>
          <a:xfrm>
            <a:off x="471000" y="5890000"/>
            <a:ext cx="112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DC6A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Path: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→ Hardware-in-the-Loop → Controlled Field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aa4618a4_0_20"/>
          <p:cNvSpPr txBox="1">
            <a:spLocks noGrp="1"/>
          </p:cNvSpPr>
          <p:nvPr>
            <p:ph type="body" idx="1"/>
          </p:nvPr>
        </p:nvSpPr>
        <p:spPr>
          <a:xfrm>
            <a:off x="4495800" y="386136"/>
            <a:ext cx="3238500" cy="76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sz="2500" b="1" dirty="0">
                <a:solidFill>
                  <a:srgbClr val="000000"/>
                </a:solidFill>
                <a:latin typeface="Times New Roman" panose="02020603050405020304"/>
              </a:rPr>
              <a:t>MODULES</a:t>
            </a:r>
            <a:endParaRPr sz="25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26" name="Google Shape;226;g3f6aa4618a4_0_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f6aa4618a4_0_2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990600" y="1378047"/>
            <a:ext cx="10515600" cy="5495290"/>
          </a:xfrm>
          <a:prstGeom prst="rect">
            <a:avLst/>
          </a:prstGeom>
        </p:spPr>
        <p:txBody>
          <a:bodyPr wrap="square" lIns="50800" tIns="25400" rIns="50800" bIns="25400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600" b="1" dirty="0" smtClean="0">
                <a:solidFill>
                  <a:schemeClr val="tx1"/>
                </a:solidFill>
                <a:latin typeface="Times New Roman" panose="02020603050405020304"/>
              </a:rPr>
              <a:t> Module 1 – Telemetry &amp; Peer Broadcast Module</a:t>
            </a:r>
          </a:p>
          <a:p>
            <a:pPr marL="457200" lvl="1" indent="45720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 dirty="0" smtClean="0">
                <a:solidFill>
                  <a:schemeClr val="bg2"/>
                </a:solidFill>
                <a:latin typeface="Times New Roman" panose="02020603050405020304"/>
              </a:rPr>
              <a:t>Collects GNSS position, altitude, velocity/heading, descent rate and turn rate; packages the state </a:t>
            </a:r>
            <a:r>
              <a:rPr lang="en-IN" sz="1600" b="1" dirty="0" smtClean="0">
                <a:solidFill>
                  <a:schemeClr val="bg2"/>
                </a:solidFill>
                <a:latin typeface="Times New Roman" panose="02020603050405020304"/>
              </a:rPr>
              <a:t>  </a:t>
            </a:r>
            <a:r>
              <a:rPr sz="1600" b="1" dirty="0" smtClean="0">
                <a:solidFill>
                  <a:schemeClr val="bg2"/>
                </a:solidFill>
                <a:latin typeface="Times New Roman" panose="02020603050405020304"/>
              </a:rPr>
              <a:t>and broadcasts it to nearby devices.</a:t>
            </a:r>
          </a:p>
          <a:p>
            <a:pPr marL="285750" indent="-28575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600" b="1" dirty="0" smtClean="0">
                <a:solidFill>
                  <a:schemeClr val="tx1"/>
                </a:solidFill>
                <a:latin typeface="Times New Roman" panose="02020603050405020304"/>
              </a:rPr>
              <a:t> Module 2 – State Estimation &amp; Trajectory Projection Module</a:t>
            </a:r>
          </a:p>
          <a:p>
            <a:pPr marL="457200" lvl="1" indent="45720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 dirty="0" smtClean="0">
                <a:solidFill>
                  <a:schemeClr val="bg2"/>
                </a:solidFill>
                <a:latin typeface="Times New Roman" panose="02020603050405020304"/>
              </a:rPr>
              <a:t>Cleans and time-aligns incoming states, converts coordinates to a local frame, estimates relative motion and predicts feasible canopy paths.</a:t>
            </a:r>
          </a:p>
          <a:p>
            <a:pPr marL="285750" indent="-28575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600" b="1" dirty="0" smtClean="0">
                <a:solidFill>
                  <a:schemeClr val="tx1"/>
                </a:solidFill>
                <a:latin typeface="Times New Roman" panose="02020603050405020304"/>
              </a:rPr>
              <a:t>Module 3 – Predictive Collision Detection Module</a:t>
            </a:r>
          </a:p>
          <a:p>
            <a:pPr marL="457200" lvl="1" indent="45720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 dirty="0" smtClean="0">
                <a:solidFill>
                  <a:schemeClr val="bg2"/>
                </a:solidFill>
                <a:latin typeface="Times New Roman" panose="02020603050405020304"/>
              </a:rPr>
              <a:t>Calculates relative velocity, time-to-CPA, minimum predicted 3D separation and conflict geometry for every nearby jumper.</a:t>
            </a:r>
            <a:endParaRPr sz="1600" b="1" dirty="0" smtClean="0">
              <a:solidFill>
                <a:schemeClr val="tx1"/>
              </a:solidFill>
              <a:latin typeface="Times New Roman" panose="02020603050405020304"/>
            </a:endParaRPr>
          </a:p>
          <a:p>
            <a:pPr marL="285750" indent="-28575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sz="1600" b="1" dirty="0" smtClean="0">
                <a:solidFill>
                  <a:schemeClr val="tx1"/>
                </a:solidFill>
                <a:latin typeface="Times New Roman" panose="02020603050405020304"/>
              </a:rPr>
              <a:t> Module 4 – Risk Assessment &amp; Resolution Advisory Module</a:t>
            </a:r>
          </a:p>
          <a:p>
            <a:pPr marL="457200" lvl="1" indent="457200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 dirty="0" smtClean="0">
                <a:solidFill>
                  <a:schemeClr val="bg2"/>
                </a:solidFill>
                <a:latin typeface="Times New Roman" panose="02020603050405020304"/>
              </a:rPr>
              <a:t>Maps conflict severity to thresholds and evaluates feasible corrective actions such as left/right turn, turn-hold or descent adjustment.</a:t>
            </a:r>
            <a:endParaRPr lang="en-US" sz="1600" b="1" dirty="0" smtClean="0">
              <a:solidFill>
                <a:schemeClr val="bg2"/>
              </a:solidFill>
              <a:latin typeface="Times New Roman" panose="02020603050405020304"/>
            </a:endParaRP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tx1"/>
                </a:solidFill>
                <a:latin typeface="Times New Roman" panose="02020603050405020304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/>
              </a:rPr>
              <a:t>Module 5 – Audio HMI, Logging &amp; Safety Monitor Module</a:t>
            </a:r>
          </a:p>
          <a:p>
            <a:pPr marL="457200" lvl="1" indent="45720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chemeClr val="bg2"/>
                </a:solidFill>
                <a:latin typeface="Times New Roman" panose="02020603050405020304"/>
              </a:rPr>
              <a:t>Delivers concise helmet audio cues, records events for post-flight analysis, monitors stale telemetry and detects communication or sensor faults.</a:t>
            </a:r>
          </a:p>
          <a:p>
            <a:pPr marL="285750" indent="-28575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endParaRPr sz="1800" b="1" dirty="0" smtClean="0">
              <a:solidFill>
                <a:srgbClr val="000000"/>
              </a:solidFill>
              <a:latin typeface="Times New Roman" panose="02020603050405020304"/>
            </a:endParaRPr>
          </a:p>
          <a:p>
            <a:pPr marL="285750" indent="-28575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Ø"/>
            </a:pPr>
            <a:endParaRPr sz="1800" b="1" dirty="0" smtClean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aa4618a4_0_37"/>
          <p:cNvSpPr txBox="1">
            <a:spLocks noGrp="1"/>
          </p:cNvSpPr>
          <p:nvPr>
            <p:ph type="body" idx="1"/>
          </p:nvPr>
        </p:nvSpPr>
        <p:spPr>
          <a:xfrm>
            <a:off x="4048200" y="365436"/>
            <a:ext cx="4019400" cy="80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sz="2500" b="1" dirty="0">
                <a:solidFill>
                  <a:srgbClr val="000000"/>
                </a:solidFill>
                <a:latin typeface="Times New Roman" panose="02020603050405020304"/>
              </a:rPr>
              <a:t>CONCLUSION</a:t>
            </a:r>
            <a:endParaRPr sz="25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2" name="Google Shape;242;g3f6aa4618a4_0_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f6aa4618a4_0_3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914400" y="1447799"/>
            <a:ext cx="10287000" cy="5003742"/>
          </a:xfrm>
          <a:prstGeom prst="rect">
            <a:avLst/>
          </a:prstGeom>
        </p:spPr>
        <p:txBody>
          <a:bodyPr wrap="square" lIns="50800" tIns="25400" rIns="50800" bIns="25400">
            <a:spAutoFit/>
          </a:bodyPr>
          <a:lstStyle/>
          <a:p>
            <a:pPr marL="342900" indent="-34290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SkyShield</a:t>
            </a: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proposes a decentralized, real-time safety architecture for parachute canopy traffic</a:t>
            </a: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.</a:t>
            </a:r>
            <a:endParaRPr sz="2000" b="0" dirty="0">
              <a:solidFill>
                <a:schemeClr val="tx1"/>
              </a:solidFill>
              <a:latin typeface="Times New Roman" panose="02020603050405020304"/>
            </a:endParaRPr>
          </a:p>
          <a:p>
            <a:pPr marL="342900" indent="-34290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The 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key technical pipeline is live telemetry → forward trajectory prediction → CPA/risk estimation → feasible resolution selection → audio advisory</a:t>
            </a: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.</a:t>
            </a:r>
            <a:endParaRPr sz="2000" b="0" dirty="0">
              <a:solidFill>
                <a:schemeClr val="tx1"/>
              </a:solidFill>
              <a:latin typeface="Times New Roman" panose="02020603050405020304"/>
            </a:endParaRPr>
          </a:p>
          <a:p>
            <a:pPr marL="342900" indent="-34290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The 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design adapts established aviation concepts such as broadcast surveillance, closest-point-of-approach analysis and resolution advisories to the distinctive constraints of human-piloted 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parafoils</a:t>
            </a: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.</a:t>
            </a:r>
            <a:endParaRPr sz="2000" b="0" dirty="0">
              <a:solidFill>
                <a:schemeClr val="tx1"/>
              </a:solidFill>
              <a:latin typeface="Times New Roman" panose="02020603050405020304"/>
            </a:endParaRPr>
          </a:p>
          <a:p>
            <a:pPr marL="342900" indent="-34290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The 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system is intended to warn before a collision becomes visually obvious and to provide a specific maneuver instead of only reporting nearby traffic</a:t>
            </a: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.</a:t>
            </a:r>
            <a:endParaRPr sz="2000" b="0" dirty="0">
              <a:solidFill>
                <a:schemeClr val="tx1"/>
              </a:solidFill>
              <a:latin typeface="Times New Roman" panose="02020603050405020304"/>
            </a:endParaRPr>
          </a:p>
          <a:p>
            <a:pPr marL="342900" indent="-34290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Research 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literature from 2023–2026 supports the feasibility of 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parafoil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 trajectory modeling, adaptive control, multi-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parafoil</a:t>
            </a:r>
            <a:r>
              <a:rPr sz="2000" b="0" dirty="0">
                <a:solidFill>
                  <a:schemeClr val="tx1"/>
                </a:solidFill>
                <a:latin typeface="Times New Roman" panose="02020603050405020304"/>
              </a:rPr>
              <a:t> coordination, ADS-B-style broadcast awareness and spatial/audio cueing</a:t>
            </a:r>
            <a:r>
              <a:rPr sz="2000" b="0" dirty="0" smtClean="0">
                <a:solidFill>
                  <a:schemeClr val="tx1"/>
                </a:solidFill>
                <a:latin typeface="Times New Roman" panose="02020603050405020304"/>
              </a:rPr>
              <a:t>.</a:t>
            </a:r>
            <a:endParaRPr sz="2000" b="0" dirty="0">
              <a:solidFill>
                <a:schemeClr val="tx1"/>
              </a:solidFill>
              <a:latin typeface="Times New Roman" panose="02020603050405020304"/>
            </a:endParaRPr>
          </a:p>
          <a:p>
            <a:pPr marL="342900" indent="-342900" algn="l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sz="2000" b="1" dirty="0" smtClean="0">
                <a:solidFill>
                  <a:srgbClr val="000000"/>
                </a:solidFill>
                <a:latin typeface="Times New Roman" panose="02020603050405020304"/>
              </a:rPr>
              <a:t>Next </a:t>
            </a:r>
            <a:r>
              <a:rPr sz="2000" b="1" dirty="0">
                <a:solidFill>
                  <a:srgbClr val="000000"/>
                </a:solidFill>
                <a:latin typeface="Times New Roman" panose="02020603050405020304"/>
              </a:rPr>
              <a:t>steps: finalize RF protocol and update rate, tune the prediction horizon and risk thresholds, model canopy maneuver limits, prototype the audio interface, and validate through simulation → hardware-in-loop → controlled field trials.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>
            <a:spLocks noGrp="1"/>
          </p:cNvSpPr>
          <p:nvPr>
            <p:ph type="body" idx="1"/>
          </p:nvPr>
        </p:nvSpPr>
        <p:spPr>
          <a:xfrm>
            <a:off x="3274450" y="2943326"/>
            <a:ext cx="4980000" cy="17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sz="3000" b="1" dirty="0">
                <a:solidFill>
                  <a:srgbClr val="000000"/>
                </a:solidFill>
                <a:latin typeface="Times New Roman" panose="02020603050405020304"/>
              </a:rPr>
              <a:t>THANK YOU</a:t>
            </a:r>
            <a:endParaRPr sz="4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8" name="Google Shape;258;p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11</a:t>
            </a:fld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59" name="Google Shape;259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 txBox="1"/>
          <p:nvPr/>
        </p:nvSpPr>
        <p:spPr>
          <a:xfrm>
            <a:off x="219075" y="6453188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10957961" y="6426683"/>
            <a:ext cx="43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1100</Words>
  <Application>Microsoft Office PowerPoint</Application>
  <PresentationFormat>Widescreen</PresentationFormat>
  <Paragraphs>172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Times New Roman</vt:lpstr>
      <vt:lpstr>Calibri</vt:lpstr>
      <vt:lpstr>Aptos</vt:lpstr>
      <vt:lpstr>Century Gothic</vt:lpstr>
      <vt:lpstr>Noto Sans Symbols</vt:lpstr>
      <vt:lpstr>Arial</vt:lpstr>
      <vt:lpstr>Wingdings</vt:lpstr>
      <vt:lpstr>Ion</vt:lpstr>
      <vt:lpstr>K. RAMAKRISHNAN COLLEGE OF TECHNOLOGY (AUTONOMOUS), TIRUCHIRAPALLI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 RAMAKRISHNAN COLLEGE OF TECHNOLOGY (AUTONOMOUS), TIRUCHIRAPALLI</dc:title>
  <dc:creator>Rahini</dc:creator>
  <cp:lastModifiedBy>KEERTHIKA</cp:lastModifiedBy>
  <cp:revision>41</cp:revision>
  <dcterms:created xsi:type="dcterms:W3CDTF">2024-02-06T09:37:00Z</dcterms:created>
  <dcterms:modified xsi:type="dcterms:W3CDTF">2026-10-05T04:09:44Z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C6F9D18AA0324E4B97916DF4AF6B9FDB_13</vt:lpwstr>
  </property>
  <property fmtid="{D5CDD505-2E9C-101B-9397-08002B2CF9AE}" pid="3" name="KSOProductBuildVer">
    <vt:lpwstr>1033-12.1.0.28485</vt:lpwstr>
  </property>
</Properties>
</file>